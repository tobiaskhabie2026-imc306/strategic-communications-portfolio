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7315200" cx="9753600"/>
  <p:notesSz cx="6858000" cy="9144000"/>
  <p:embeddedFontLst>
    <p:embeddedFont>
      <p:font typeface="Roboto"/>
      <p:bold r:id="rId7"/>
      <p:boldItalic r:id="rId8"/>
    </p:embeddedFont>
    <p:embeddedFont>
      <p:font typeface="Public Sans"/>
      <p:bold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gjVIHchoU33o8lhYOJ6h6t9YtJ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font" Target="fonts/PublicSans-boldItalic.fntdata"/><Relationship Id="rId9" Type="http://schemas.openxmlformats.org/officeDocument/2006/relationships/font" Target="fonts/Public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-bold.fntdata"/><Relationship Id="rId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145479" y="1206164"/>
            <a:ext cx="3296765" cy="1371651"/>
          </a:xfrm>
          <a:custGeom>
            <a:rect b="b" l="l" r="r" t="t"/>
            <a:pathLst>
              <a:path extrusionOk="0" h="1810760" w="3296765">
                <a:moveTo>
                  <a:pt x="0" y="0"/>
                </a:moveTo>
                <a:lnTo>
                  <a:pt x="3296764" y="0"/>
                </a:lnTo>
                <a:lnTo>
                  <a:pt x="3296764" y="1810760"/>
                </a:lnTo>
                <a:lnTo>
                  <a:pt x="0" y="1810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731525" y="731524"/>
            <a:ext cx="1697031" cy="1285501"/>
          </a:xfrm>
          <a:custGeom>
            <a:rect b="b" l="l" r="r" t="t"/>
            <a:pathLst>
              <a:path extrusionOk="0" h="1697031" w="1697031">
                <a:moveTo>
                  <a:pt x="0" y="0"/>
                </a:moveTo>
                <a:lnTo>
                  <a:pt x="1697031" y="0"/>
                </a:lnTo>
                <a:lnTo>
                  <a:pt x="1697031" y="1697031"/>
                </a:lnTo>
                <a:lnTo>
                  <a:pt x="0" y="16970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>
            <a:off x="1145480" y="2552801"/>
            <a:ext cx="3296765" cy="1231317"/>
          </a:xfrm>
          <a:custGeom>
            <a:rect b="b" l="l" r="r" t="t"/>
            <a:pathLst>
              <a:path extrusionOk="0" h="1810760" w="3296765">
                <a:moveTo>
                  <a:pt x="0" y="0"/>
                </a:moveTo>
                <a:lnTo>
                  <a:pt x="3296764" y="0"/>
                </a:lnTo>
                <a:lnTo>
                  <a:pt x="3296764" y="1810761"/>
                </a:lnTo>
                <a:lnTo>
                  <a:pt x="0" y="18107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/>
          <p:nvPr/>
        </p:nvSpPr>
        <p:spPr>
          <a:xfrm flipH="1" rot="10800000">
            <a:off x="731525" y="3209570"/>
            <a:ext cx="1697031" cy="1153981"/>
          </a:xfrm>
          <a:custGeom>
            <a:rect b="b" l="l" r="r" t="t"/>
            <a:pathLst>
              <a:path extrusionOk="0" h="1697031" w="1697031">
                <a:moveTo>
                  <a:pt x="0" y="1697031"/>
                </a:moveTo>
                <a:lnTo>
                  <a:pt x="1697031" y="1697031"/>
                </a:lnTo>
                <a:lnTo>
                  <a:pt x="1697031" y="0"/>
                </a:lnTo>
                <a:lnTo>
                  <a:pt x="0" y="0"/>
                </a:lnTo>
                <a:lnTo>
                  <a:pt x="0" y="169703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p1"/>
          <p:cNvSpPr/>
          <p:nvPr/>
        </p:nvSpPr>
        <p:spPr>
          <a:xfrm>
            <a:off x="5088200" y="2609673"/>
            <a:ext cx="3296765" cy="1231317"/>
          </a:xfrm>
          <a:custGeom>
            <a:rect b="b" l="l" r="r" t="t"/>
            <a:pathLst>
              <a:path extrusionOk="0" h="1810760" w="3296765">
                <a:moveTo>
                  <a:pt x="0" y="0"/>
                </a:moveTo>
                <a:lnTo>
                  <a:pt x="3296765" y="0"/>
                </a:lnTo>
                <a:lnTo>
                  <a:pt x="3296765" y="1810760"/>
                </a:lnTo>
                <a:lnTo>
                  <a:pt x="0" y="1810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p1"/>
          <p:cNvSpPr/>
          <p:nvPr/>
        </p:nvSpPr>
        <p:spPr>
          <a:xfrm rot="10800000">
            <a:off x="7325044" y="3211209"/>
            <a:ext cx="1697031" cy="1260046"/>
          </a:xfrm>
          <a:custGeom>
            <a:rect b="b" l="l" r="r" t="t"/>
            <a:pathLst>
              <a:path extrusionOk="0" h="1697031" w="1697031">
                <a:moveTo>
                  <a:pt x="1697031" y="1697031"/>
                </a:moveTo>
                <a:lnTo>
                  <a:pt x="0" y="1697031"/>
                </a:lnTo>
                <a:lnTo>
                  <a:pt x="0" y="0"/>
                </a:lnTo>
                <a:lnTo>
                  <a:pt x="1697031" y="0"/>
                </a:lnTo>
                <a:lnTo>
                  <a:pt x="1697031" y="169703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"/>
          <p:cNvSpPr/>
          <p:nvPr/>
        </p:nvSpPr>
        <p:spPr>
          <a:xfrm>
            <a:off x="5088208" y="1206164"/>
            <a:ext cx="3296765" cy="1371651"/>
          </a:xfrm>
          <a:custGeom>
            <a:rect b="b" l="l" r="r" t="t"/>
            <a:pathLst>
              <a:path extrusionOk="0" h="1810760" w="3296765">
                <a:moveTo>
                  <a:pt x="0" y="0"/>
                </a:moveTo>
                <a:lnTo>
                  <a:pt x="3296765" y="0"/>
                </a:lnTo>
                <a:lnTo>
                  <a:pt x="3296765" y="1810760"/>
                </a:lnTo>
                <a:lnTo>
                  <a:pt x="0" y="1810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 flipH="1">
            <a:off x="7325044" y="731524"/>
            <a:ext cx="1697031" cy="1285501"/>
          </a:xfrm>
          <a:custGeom>
            <a:rect b="b" l="l" r="r" t="t"/>
            <a:pathLst>
              <a:path extrusionOk="0" h="1697031" w="1697031">
                <a:moveTo>
                  <a:pt x="1697031" y="0"/>
                </a:moveTo>
                <a:lnTo>
                  <a:pt x="0" y="0"/>
                </a:lnTo>
                <a:lnTo>
                  <a:pt x="0" y="1697031"/>
                </a:lnTo>
                <a:lnTo>
                  <a:pt x="1697031" y="1697031"/>
                </a:lnTo>
                <a:lnTo>
                  <a:pt x="169703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0" y="6169249"/>
            <a:ext cx="1145474" cy="1145951"/>
          </a:xfrm>
          <a:custGeom>
            <a:rect b="b" l="l" r="r" t="t"/>
            <a:pathLst>
              <a:path extrusionOk="0" h="1145951" w="1145474">
                <a:moveTo>
                  <a:pt x="0" y="0"/>
                </a:moveTo>
                <a:lnTo>
                  <a:pt x="1145474" y="0"/>
                </a:lnTo>
                <a:lnTo>
                  <a:pt x="1145474" y="1145951"/>
                </a:lnTo>
                <a:lnTo>
                  <a:pt x="0" y="11459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1322841" y="979035"/>
            <a:ext cx="8019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6" u="none" cap="none" strike="noStrik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S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1258246" y="3215775"/>
            <a:ext cx="9312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6" u="none" cap="none" strike="noStrik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W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625749" y="980049"/>
            <a:ext cx="9312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6" u="none" cap="none" strike="noStrik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O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7625752" y="3286462"/>
            <a:ext cx="931200" cy="10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6" u="none" cap="none" strike="noStrike">
                <a:solidFill>
                  <a:srgbClr val="FFFFFF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2622396" y="1315676"/>
            <a:ext cx="167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5199C"/>
                </a:solidFill>
                <a:latin typeface="Public Sans"/>
                <a:ea typeface="Public Sans"/>
                <a:cs typeface="Public Sans"/>
                <a:sym typeface="Public Sans"/>
              </a:rPr>
              <a:t>STRENGTHS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5228646" y="1315676"/>
            <a:ext cx="223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5199C"/>
                </a:solidFill>
                <a:latin typeface="Public Sans"/>
                <a:ea typeface="Public Sans"/>
                <a:cs typeface="Public Sans"/>
                <a:sym typeface="Public Sans"/>
              </a:rPr>
              <a:t>OPPORTUNITIES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2622393" y="3515054"/>
            <a:ext cx="167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5199C"/>
                </a:solidFill>
                <a:latin typeface="Public Sans"/>
                <a:ea typeface="Public Sans"/>
                <a:cs typeface="Public Sans"/>
                <a:sym typeface="Public Sans"/>
              </a:rPr>
              <a:t>WEAKNESS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5195496" y="3552029"/>
            <a:ext cx="1677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45199C"/>
                </a:solidFill>
                <a:latin typeface="Public Sans"/>
                <a:ea typeface="Public Sans"/>
                <a:cs typeface="Public Sans"/>
                <a:sym typeface="Public Sans"/>
              </a:rPr>
              <a:t>THREATS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2486742" y="1616787"/>
            <a:ext cx="18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</a:t>
            </a: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rendy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Color scheme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Functionality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228650" y="1616786"/>
            <a:ext cx="1918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Partnerships + custom schemes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Visibility of Product variety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5228646" y="2800754"/>
            <a:ext cx="18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Saturated market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Reliance on trend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Novelty demand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486739" y="2800754"/>
            <a:ext cx="1812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Lack of differentiation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latin typeface="Public Sans"/>
                <a:ea typeface="Public Sans"/>
                <a:cs typeface="Public Sans"/>
                <a:sym typeface="Public Sans"/>
              </a:rPr>
              <a:t>Pricey</a:t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05" name="Google Shape;105;p1"/>
          <p:cNvSpPr/>
          <p:nvPr/>
        </p:nvSpPr>
        <p:spPr>
          <a:xfrm flipH="1" rot="10800000">
            <a:off x="0" y="0"/>
            <a:ext cx="1145474" cy="1145951"/>
          </a:xfrm>
          <a:custGeom>
            <a:rect b="b" l="l" r="r" t="t"/>
            <a:pathLst>
              <a:path extrusionOk="0" h="1145951" w="1145474">
                <a:moveTo>
                  <a:pt x="0" y="1145951"/>
                </a:moveTo>
                <a:lnTo>
                  <a:pt x="1145474" y="1145951"/>
                </a:lnTo>
                <a:lnTo>
                  <a:pt x="1145474" y="0"/>
                </a:lnTo>
                <a:lnTo>
                  <a:pt x="0" y="0"/>
                </a:lnTo>
                <a:lnTo>
                  <a:pt x="0" y="114595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1"/>
          <p:cNvSpPr/>
          <p:nvPr/>
        </p:nvSpPr>
        <p:spPr>
          <a:xfrm rot="10800000">
            <a:off x="8608126" y="0"/>
            <a:ext cx="1145474" cy="1145951"/>
          </a:xfrm>
          <a:custGeom>
            <a:rect b="b" l="l" r="r" t="t"/>
            <a:pathLst>
              <a:path extrusionOk="0" h="1145951" w="1145474">
                <a:moveTo>
                  <a:pt x="1145474" y="1145951"/>
                </a:moveTo>
                <a:lnTo>
                  <a:pt x="0" y="1145951"/>
                </a:lnTo>
                <a:lnTo>
                  <a:pt x="0" y="0"/>
                </a:lnTo>
                <a:lnTo>
                  <a:pt x="1145474" y="0"/>
                </a:lnTo>
                <a:lnTo>
                  <a:pt x="1145474" y="114595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7" name="Google Shape;107;p1"/>
          <p:cNvSpPr/>
          <p:nvPr/>
        </p:nvSpPr>
        <p:spPr>
          <a:xfrm flipH="1">
            <a:off x="8608126" y="6169249"/>
            <a:ext cx="1145474" cy="1145951"/>
          </a:xfrm>
          <a:custGeom>
            <a:rect b="b" l="l" r="r" t="t"/>
            <a:pathLst>
              <a:path extrusionOk="0" h="1145951" w="1145474">
                <a:moveTo>
                  <a:pt x="1145474" y="0"/>
                </a:moveTo>
                <a:lnTo>
                  <a:pt x="0" y="0"/>
                </a:lnTo>
                <a:lnTo>
                  <a:pt x="0" y="1145951"/>
                </a:lnTo>
                <a:lnTo>
                  <a:pt x="1145474" y="1145951"/>
                </a:lnTo>
                <a:lnTo>
                  <a:pt x="1145474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8" name="Google Shape;108;p1"/>
          <p:cNvSpPr txBox="1"/>
          <p:nvPr/>
        </p:nvSpPr>
        <p:spPr>
          <a:xfrm>
            <a:off x="0" y="44193"/>
            <a:ext cx="9753600" cy="522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50" u="none" cap="none" strike="noStrike">
                <a:solidFill>
                  <a:srgbClr val="45199C"/>
                </a:solidFill>
                <a:latin typeface="Roboto"/>
                <a:ea typeface="Roboto"/>
                <a:cs typeface="Roboto"/>
                <a:sym typeface="Roboto"/>
              </a:rPr>
              <a:t>IMC 306: SWOT ANALYISIS</a:t>
            </a:r>
            <a:endParaRPr/>
          </a:p>
        </p:txBody>
      </p:sp>
      <p:sp>
        <p:nvSpPr>
          <p:cNvPr id="109" name="Google Shape;109;p1"/>
          <p:cNvSpPr/>
          <p:nvPr/>
        </p:nvSpPr>
        <p:spPr>
          <a:xfrm>
            <a:off x="3273746" y="6245161"/>
            <a:ext cx="3206109" cy="1070039"/>
          </a:xfrm>
          <a:custGeom>
            <a:rect b="b" l="l" r="r" t="t"/>
            <a:pathLst>
              <a:path extrusionOk="0" h="1070039" w="3206109">
                <a:moveTo>
                  <a:pt x="0" y="0"/>
                </a:moveTo>
                <a:lnTo>
                  <a:pt x="3206108" y="0"/>
                </a:lnTo>
                <a:lnTo>
                  <a:pt x="3206108" y="1070039"/>
                </a:lnTo>
                <a:lnTo>
                  <a:pt x="0" y="10700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"/>
          <p:cNvSpPr txBox="1"/>
          <p:nvPr/>
        </p:nvSpPr>
        <p:spPr>
          <a:xfrm>
            <a:off x="2428551" y="702945"/>
            <a:ext cx="4835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ublic Sans"/>
                <a:ea typeface="Public Sans"/>
                <a:cs typeface="Public Sans"/>
                <a:sym typeface="Public Sans"/>
              </a:rPr>
              <a:t>Owala</a:t>
            </a:r>
            <a:endParaRPr/>
          </a:p>
        </p:txBody>
      </p:sp>
      <p:sp>
        <p:nvSpPr>
          <p:cNvPr id="111" name="Google Shape;111;p1"/>
          <p:cNvSpPr txBox="1"/>
          <p:nvPr/>
        </p:nvSpPr>
        <p:spPr>
          <a:xfrm>
            <a:off x="2428550" y="3841000"/>
            <a:ext cx="4896300" cy="22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was one thing that surprised you about the results?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diversity of the product offerings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one stakeholder from the stakeholder map activity you believe would key in each area.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Strengths : Customers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Weaknesses: Manufacturers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Opportunities: Partners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Threats: Competitors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would you leverage your strengths to minimize threats?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Convert trend riders to loyal customers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